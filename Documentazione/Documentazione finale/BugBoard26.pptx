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79A45-D79F-8CA5-97CD-7D491D840645}" v="10" dt="2026-03-01T11:29:16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EE78B-9C6D-4C37-B38D-8AE84906D619}" type="datetimeFigureOut">
              <a:t>01/03/2026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0A610-B21C-49A0-A38C-1246E94E0EF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81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BugBoard26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Web per la Gestione Collaborativa di Issue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4572000" cy="105156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33756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Fabrizio Padulano  ·  Federico Padulano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Ingegneria del Software  |  A.A. 2025/2026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5537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8F0FE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553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45537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6F4E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4553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45537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DE7F6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553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4553712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E0F7FA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5537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10 minuti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 &amp; obiettivi del progetto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65376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653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86537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Attori e casi d'uso principali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33472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334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33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non-funzionali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01568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015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40156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 — overview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696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69664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696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16966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 — deployment Docker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09728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097280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97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10972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&amp; diagramma delle classi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18653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865376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8653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186537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applicati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6334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633472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6334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633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di testing (Black Box &amp; White Box)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340156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401568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015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0" y="340156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 codice — SonarQube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416966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4169664"/>
            <a:ext cx="502920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1696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0" y="416966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risultati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BugBoard26?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piattaforma web che consente a un team di sviluppo di gestire collaborativamente le issue di progetto: segnalare bug, assegnarli ai colleghi, tracciarli fino alla risoluzione e ricevere notifiche automatiche.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64008" cy="1234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94560"/>
            <a:ext cx="548640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32888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segnalazione ha titolo, descrizione, tipo (bug/feature/docs/question), priorità e stato (todo → in progress → done)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48840"/>
            <a:ext cx="64008" cy="1234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194560"/>
            <a:ext cx="548640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224028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ruoli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2532888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ruoli: Amministratore (pieno controllo) e Utente normale (può segnalare e modificare solo i propri bug assegnati)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38728"/>
            <a:ext cx="64008" cy="1234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84448"/>
            <a:ext cx="548640" cy="1143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63016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automatiche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922776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un admin assegna un bug, il sistema invia automaticamente una notifica via email e in-app all'utente destinatario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538728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538728"/>
            <a:ext cx="64008" cy="1234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630168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riepilogativa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3922776"/>
            <a:ext cx="31821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filtri per tipo, stato e priorità; ordinamento e paginazione per gestire anche molte issue in modo efficiente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Attori &amp; Casi d'Uso Principali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393192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93192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Utente</a:t>
            </a: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Autenticato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53619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Segnalare issue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nuove segnalazioni con titolo, descrizione, tipo e priorità. Lo stato iniziale è sempre 'todo'.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35915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7744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Visualizzare issue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63347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alla lista di tutti i bug del progetto con filtri e ordinamento.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18211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0040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bug assegnati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5643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modificare stato, descrizione e priorità, ma solo dei bug che gli sono stati assegnati dall'admin.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400507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02336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Ricevere notifiche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279392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una notifica automatica (email + in-app) ad ogni assegnazione o modifica da parte dell'admin.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24128"/>
            <a:ext cx="39319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24128"/>
            <a:ext cx="393192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Amministratore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19472" y="1536192"/>
            <a:ext cx="3785616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536192"/>
            <a:ext cx="3785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Eredita tutto ciò che può fare l'Utente, più: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19472" y="1965960"/>
            <a:ext cx="54864" cy="612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98424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gli utenti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47488" y="222199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creare nuovi account, specificando email, password e ruolo (normale o admin).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2697480"/>
            <a:ext cx="54864" cy="612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271576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Assegnare i bug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295351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assegnare qualsiasi bug a qualsiasi membro del team. Il destinatario riceve notifica automatica.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19472" y="3429000"/>
            <a:ext cx="54864" cy="612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44728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 qualsiasi bug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47488" y="368503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differenza dell'utente normale, l'admin può modificare tutti i bug del sistema senza limiti.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19472" y="4160520"/>
            <a:ext cx="54864" cy="6126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417880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Impostare scadenze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47488" y="4416552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 aggiungere scadenze opzionali (deadline) alle issue per monitorare i tempi di risoluzione.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 Non-Funzionali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5176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Sicurezza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password sono hashate nel DB. La comunicazione avviene tramite JWT token stateless. Il controllo dei permessi viene eseguito sia lato client che lato server per ogni operazione critica.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65176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Performance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1572768"/>
            <a:ext cx="2487168" cy="1115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Le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operazioni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caricamento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e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filtraggio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devono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completarsi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entro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2 secondi, quelle di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scrittura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entro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3.</a:t>
            </a:r>
          </a:p>
        </p:txBody>
      </p:sp>
      <p:sp>
        <p:nvSpPr>
          <p:cNvPr id="13" name="Shape 11"/>
          <p:cNvSpPr/>
          <p:nvPr/>
        </p:nvSpPr>
        <p:spPr>
          <a:xfrm>
            <a:off x="608076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078992"/>
            <a:ext cx="265176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7899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Usabilità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72200" y="1572768"/>
            <a:ext cx="2487168" cy="11155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Interfaccia responsive per desktop, tablet e mobile.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Terminologia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coerente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con il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glossario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del </a:t>
            </a:r>
            <a:r>
              <a:rPr lang="en-US" sz="10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progetto</a:t>
            </a:r>
            <a:r>
              <a:rPr lang="en-US" sz="10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295351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53512"/>
            <a:ext cx="265176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5351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Architettura</a:t>
            </a:r>
            <a:endParaRPr lang="en-US" sz="120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344728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 back-end completamente separati, comunicanti solo via HTTP REST JSON. Il back-end è l'unica fonte di verità. Vietato usare esclusivamente servizi MBaaS (Firebase, Supabase, ecc.).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5351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53512"/>
            <a:ext cx="265176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95351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Deployment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91840" y="344728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back-end deve essere containerizzato con Docker, garantendo lo stesso comportamento in sviluppo, test e produzione. Il sistema deve essere deployabile su cloud (AWS, GCP, Azure).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295351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953512"/>
            <a:ext cx="26517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953512"/>
            <a:ext cx="2651760" cy="4389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Testing &amp;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Qualità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72200" y="344728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automatizzati con framework xUnit (JUnit 5). Analisi statica del codice back-end con SonarQube. Obbligatorio l'uso di paradigma OOP sia lato client che server.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029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024128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24128"/>
            <a:ext cx="32461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024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Angular SPA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50992" y="1316736"/>
            <a:ext cx="3099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 è una Single Page Application sviluppata in Angular. I Component gestiscono la UI, i Service comunicano con il backend tramite chiamate HTTP, i Model definiscono i tipi via TypeScript.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2020824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020824"/>
            <a:ext cx="324612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0208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Reverse Proxy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50992" y="2313432"/>
            <a:ext cx="3099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fa da unico punto di ingresso: serve i file statici del frontend e smista le chiamate /api verso il backend. Questo risolve i problemi CORS e nasconde il backend dalla rete pubblica.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3017520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017520"/>
            <a:ext cx="324612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017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3 Layer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50992" y="3310128"/>
            <a:ext cx="3099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backend segue l'architettura a strati chiusi: Controller (interfaccia REST) → Service (business logic e controlli di sicurezza) → Repository (accesso a DB via JPA) → Entity (ORM).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4014216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4014216"/>
            <a:ext cx="3246120" cy="274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40142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50992" y="4306824"/>
            <a:ext cx="3099816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Database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relazionale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containerizzato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. La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persistenza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è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garantita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tramite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volumi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Docker.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L'accesso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avviene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esclusivamente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50" dirty="0" err="1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tramite</a:t>
            </a:r>
            <a:r>
              <a:rPr lang="en-US" sz="950" dirty="0">
                <a:solidFill>
                  <a:srgbClr val="1A1F3C"/>
                </a:solidFill>
                <a:latin typeface="Calibri"/>
                <a:ea typeface="Calibri"/>
                <a:cs typeface="Calibri"/>
              </a:rPr>
              <a:t> Spring Data JPA</a:t>
            </a:r>
          </a:p>
        </p:txBody>
      </p:sp>
      <p:sp>
        <p:nvSpPr>
          <p:cNvPr id="22" name="Shape 19"/>
          <p:cNvSpPr/>
          <p:nvPr/>
        </p:nvSpPr>
        <p:spPr>
          <a:xfrm>
            <a:off x="365760" y="3840480"/>
            <a:ext cx="5029200" cy="384048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8404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browser comunica SOLO con Nginx — il backend non è mai esposto direttamente su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 — Deployment con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 stack è containerizzato con Docker Compose, che orchestra 5 container con rete interna condivisa e volumi persistenti per i dati.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2651760" cy="384048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PostgreSQL 16. Avvio condizionato da healthcheck (pg_isready) — gli altri container attendono che sia pronto prima di partire.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651760" cy="384048"/>
          </a:xfrm>
          <a:prstGeom prst="rect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backend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235915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Spring Boot compilata con Multi-stage Dockerfile (Maven → JRE leggero). Espone le API sulla porta 8080 interna. depends_on: postgres (healthy).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9202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920240"/>
            <a:ext cx="265176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frontend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235915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compilato in produzione, poi servito da Nginx. Multi-stage build: Node.js compila, Nginx serve. Nessun Node.js sulla macchina host necessario.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74720"/>
            <a:ext cx="2651760" cy="384048"/>
          </a:xfrm>
          <a:prstGeom prst="rect">
            <a:avLst/>
          </a:prstGeom>
          <a:solidFill>
            <a:srgbClr val="ED8936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74720"/>
            <a:ext cx="265176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pgadmin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3913632"/>
            <a:ext cx="248716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web per amministrare PostgreSQL in fase di sviluppo. Porta 5050. Separato dalla rete pubblica.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&amp; Diagramma delle Classi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49240" y="10241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 principali: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49240" y="1344168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49240" y="1344168"/>
            <a:ext cx="9601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9240" y="1344168"/>
            <a:ext cx="960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399032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password hashata, role (ADMIN/USER). Reporter (chi segnala) o assignee (chi risolve).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49240" y="2139696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49240" y="2139696"/>
            <a:ext cx="960120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2139696"/>
            <a:ext cx="960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194560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 centrale: titolo, tipo (BUG/FEATURE/DOCS/QUESTION), stato (TODO/IN_PROGRESS/DONE), priorità, scadenza.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349240" y="2935224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49240" y="2935224"/>
            <a:ext cx="96012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49240" y="2935224"/>
            <a:ext cx="960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2990088"/>
            <a:ext cx="230428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 automatico con testo, timestamp e flag isRead per notifiche in-app.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90809" y="3927385"/>
            <a:ext cx="8412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1A1F3C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" name="Immagine 20" descr="Immagine che contiene testo, schermata, diagramma, Piano&#10;&#10;Il contenuto generato dall&amp;#39;IA potrebbe non essere corretto.">
            <a:extLst>
              <a:ext uri="{FF2B5EF4-FFF2-40B4-BE49-F238E27FC236}">
                <a16:creationId xmlns:a16="http://schemas.microsoft.com/office/drawing/2014/main" id="{8CC9FA9E-AD28-10E8-2C14-B1A73029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0" y="1085069"/>
            <a:ext cx="5101341" cy="28281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Applicati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scelta dei pattern non è casuale: ciascuno risolve una specifica problematica emersa durante l'analisi del sistema.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64208"/>
            <a:ext cx="406908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64208"/>
            <a:ext cx="40690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Builder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2093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76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e User hanno molti attributi, molti dei quali opzionali (allegati, scadenze, assegnatari). Costruirli con un costruttore standard sarebbe illeggibile.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670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Builder (generato da Lombok @Builder) permette di impostare solo i campi necessari in modo fluente, separando la costruzione dalla rappresentazione finale.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664208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664208"/>
            <a:ext cx="406908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664208"/>
            <a:ext cx="40690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Adapter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18888" y="20939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22768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deve comunicare con due 'mondi' diversi: il server SMTP per le email e il database JPA per le notifiche in-app. Hanno interfacce incompatibili tra loro.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6700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L'interfaccia NotificationAdapter funge da 'traduttore'. EmailAdapter e DatabaseAdapter la implementano. Il NotificationService parla solo con l'interfaccia — Open/Closed Principle.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28416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28416"/>
            <a:ext cx="40690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28416"/>
            <a:ext cx="40690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Dependency Injection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5488" y="37581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" y="3941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un Service creasse internamente i propri Repository e altri Service con 'new', il codice sarebbe rigido, difficile da testare e da cambiare.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3342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4517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IoC gestisce il ciclo di vita di tutti i bean e li inietta via costruttore. Il NotificationService riceve automaticamente la lista di tutti gli Adapter disponibili.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328416"/>
            <a:ext cx="40690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328416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28416"/>
            <a:ext cx="406908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Repository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18888" y="37581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9410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business logic nei Service non deve dipendere dai dettagli del database (SQL, schema, tipo di DB). In caso di cambio tecnologia, il codice sarebbe da riscrivere.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18888" y="43342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18888" y="45171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astrae completamente l'accesso ai dati. I Service dichiarano solo 'ho bisogno dei dati' — come recuperarli è responsabilità del Repository.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di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sono realizzati con JUnit 5 + Mockito. La strategia combina approccio Black Box (dall'esterno, basato sulle specifiche) e White Box (dall'interno, basato sulla struttura del codice).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1605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Black Box Testing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60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03120"/>
            <a:ext cx="38862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di equivalenza per createIssue: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IssueRequest valido (titolo, tipo BUG) + file allegato → Issue salvata e notifica inviata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AssigneeId inesistente → ResourceNotFoundException; salvataggio interrotto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che lancia IOException → FileStorageException; nessun salvataggio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Partizioni per notifyUser: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Lista adapter non vuota → send() chiamata su tutti gli adapter (times(1))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Lista vuota → nessuna eccezione, terminazione silenziosa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Recipient nullo → never(): nessun adapter viene invocato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691640"/>
            <a:ext cx="41605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White Box Testing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4160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103120"/>
            <a:ext cx="38862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 (copertura istruzioni):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Analizzando il Control Flow Graph dei metodi, i test sono stati progettati per attraversare sia il ramo 'happy path' che tutti i rami alternativi (errori, null, liste vuote).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Testing con Mock Objects: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server SMTP e file system sono sostituiti da Mock Mockito. Questo rende i test veloci, ripetibili e indipendenti dall'infrastruttura.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Verification: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metodi void non esiste un valore di ritorno da controllare. Si usa verify() per certificare che le dipendenze siano state chiamate esattamente N volte con i parametri corretti.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del Codice — SonarQube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566928"/>
          </a:xfrm>
          <a:prstGeom prst="rect">
            <a:avLst/>
          </a:prstGeom>
          <a:solidFill>
            <a:srgbClr val="2E3A6E"/>
          </a:solidFill>
          <a:ln w="12700">
            <a:solidFill>
              <a:srgbClr val="2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L'intero codice back-end (Spring Boot) è stato analizzato con SonarQube, uno strumento di analisi statica che identifica bug, vulnerabilità e 'debito tecnico' prima che diventino problemi.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484632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94960" y="1691640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94960" y="1691640"/>
            <a:ext cx="59436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169164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080760" y="17465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20208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issue aperte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2478024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2478024"/>
            <a:ext cx="59436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2478024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080760" y="2532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2807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bug rilevati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94960" y="3264408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3264408"/>
            <a:ext cx="59436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326440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80760" y="3319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80760" y="3593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code smells, debt 0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94960" y="4050792"/>
            <a:ext cx="342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94960" y="4050792"/>
            <a:ext cx="594360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94960" y="4050792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080760" y="4105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Duplicazioni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80760" y="43799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1.4k righe di codice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&amp; Conclusioni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requisiti funzionali implementati — autenticazione, gestione issue, assegnazione, notifiche, filtri e scadenze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8229600" cy="5303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18488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Quality Gate 100% superato — Rating A in Security, Reliability e Maintainability, 0% duplicazioni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31136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" y="223113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di test JUnit 5 + Mockito con Black Box (partizioni di equivalenza), White Box (statement coverage) e Isolation Testing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43784"/>
            <a:ext cx="8229600" cy="5303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43784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066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Deploy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completamente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containerizzato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con Docker Compose — 4 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servizi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orchestrati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volumi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persistenti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healthcheck</a:t>
            </a:r>
            <a:endParaRPr lang="en-US" sz="115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822960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3000" y="3456432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design pattern documentati e motivati: Builder, Adapter, Dependency Injection, Repository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3035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50292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43000" y="4069080"/>
            <a:ext cx="7406640" cy="530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Codice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open source 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GitHub — github.com/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fabpadulano-unina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/BugBoard26 —  </a:t>
            </a:r>
            <a:r>
              <a:rPr lang="en-US" sz="115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monorepo</a:t>
            </a:r>
            <a:r>
              <a:rPr lang="en-US" sz="11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backend + frontend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0" y="4681728"/>
            <a:ext cx="4023360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46817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Fabrizio Padulano · Federico Padulano  |  A.A. 2025/2026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Presentazione su schermo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BugBoard26 - Presentazione</dc:title>
  <dc:subject>PptxGenJS Presentation</dc:subject>
  <dc:creator>PptxGenJS</dc:creator>
  <cp:lastModifiedBy>PptxGenJS</cp:lastModifiedBy>
  <cp:revision>48</cp:revision>
  <dcterms:created xsi:type="dcterms:W3CDTF">2026-02-26T08:36:44Z</dcterms:created>
  <dcterms:modified xsi:type="dcterms:W3CDTF">2026-03-01T12:01:42Z</dcterms:modified>
</cp:coreProperties>
</file>